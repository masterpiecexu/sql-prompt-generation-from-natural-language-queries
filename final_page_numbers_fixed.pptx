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45e3f2665242a1" /><Relationship Type="http://schemas.openxmlformats.org/officeDocument/2006/relationships/extended-properties" Target="/docProps/app.xml" Id="Rb0db7ac9a40e4880" /><Relationship Type="http://schemas.openxmlformats.org/officeDocument/2006/relationships/officeDocument" Target="/ppt/presentation.xml" Id="R32616cdd6746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2dacdfd16b4bd1"/>
  </p:sldMasterIdLst>
  <p:notesMasterIdLst>
    <p:notesMasterId xmlns:r="http://schemas.openxmlformats.org/officeDocument/2006/relationships" r:id="R6d5808c4338145cb"/>
  </p:notesMasterIdLst>
  <p:sldIdLst>
    <p:sldId xmlns:r="http://schemas.openxmlformats.org/officeDocument/2006/relationships" id="256" r:id="R22b057c9c1cf4b7e"/>
    <p:sldId xmlns:r="http://schemas.openxmlformats.org/officeDocument/2006/relationships" id="257" r:id="R06f87ab3ffb64509"/>
    <p:sldId xmlns:r="http://schemas.openxmlformats.org/officeDocument/2006/relationships" id="258" r:id="R4b7a3aeb311d4ce6"/>
    <p:sldId xmlns:r="http://schemas.openxmlformats.org/officeDocument/2006/relationships" id="259" r:id="R5bed6629f28f402e"/>
    <p:sldId xmlns:r="http://schemas.openxmlformats.org/officeDocument/2006/relationships" id="260" r:id="Rf7a642b3b17c4541"/>
    <p:sldId xmlns:r="http://schemas.openxmlformats.org/officeDocument/2006/relationships" id="261" r:id="R8c8c88abc1e44336"/>
    <p:sldId xmlns:r="http://schemas.openxmlformats.org/officeDocument/2006/relationships" id="262" r:id="R3906d13d55e34f86"/>
    <p:sldId xmlns:r="http://schemas.openxmlformats.org/officeDocument/2006/relationships" id="263" r:id="R7ad7e696afa6475d"/>
    <p:sldId xmlns:r="http://schemas.openxmlformats.org/officeDocument/2006/relationships" id="264" r:id="Radba88c1dc6b430b"/>
    <p:sldId xmlns:r="http://schemas.openxmlformats.org/officeDocument/2006/relationships" id="265" r:id="R90e60261307d49ab"/>
    <p:sldId xmlns:r="http://schemas.openxmlformats.org/officeDocument/2006/relationships" id="266" r:id="R2b6db74d12bc441d"/>
    <p:sldId xmlns:r="http://schemas.openxmlformats.org/officeDocument/2006/relationships" id="267" r:id="R4865ebce2b484f55"/>
    <p:sldId xmlns:r="http://schemas.openxmlformats.org/officeDocument/2006/relationships" id="268" r:id="Ra6184868f6e84678"/>
    <p:sldId xmlns:r="http://schemas.openxmlformats.org/officeDocument/2006/relationships" id="269" r:id="R67276f520458437d"/>
    <p:sldId xmlns:r="http://schemas.openxmlformats.org/officeDocument/2006/relationships" id="270" r:id="R6d4e3f098c7e4230"/>
    <p:sldId xmlns:r="http://schemas.openxmlformats.org/officeDocument/2006/relationships" id="271" r:id="R4ee64e2a667542eb"/>
    <p:sldId xmlns:r="http://schemas.openxmlformats.org/officeDocument/2006/relationships" id="272" r:id="R22dca6ba562f4863"/>
    <p:sldId xmlns:r="http://schemas.openxmlformats.org/officeDocument/2006/relationships" id="273" r:id="Raa34d33cd92c4620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9eaed5e7aa48f0" /><Relationship Type="http://schemas.openxmlformats.org/officeDocument/2006/relationships/slideMaster" Target="/ppt/slideMasters/slideMaster1.xml" Id="R4d2dacdfd16b4bd1" /><Relationship Type="http://schemas.openxmlformats.org/officeDocument/2006/relationships/notesMaster" Target="/ppt/notesMasters/notesMaster1.xml" Id="R6d5808c4338145cb" /><Relationship Type="http://schemas.openxmlformats.org/officeDocument/2006/relationships/presProps" Target="/ppt/presProps.xml" Id="R12a7f90b6f994614" /><Relationship Type="http://schemas.openxmlformats.org/officeDocument/2006/relationships/viewProps" Target="/ppt/viewProps.xml" Id="R4e6ba0e2adc04876" /><Relationship Type="http://schemas.openxmlformats.org/officeDocument/2006/relationships/tableStyles" Target="/ppt/tableStyles.xml" Id="R8a9534a9f2f34f9a" /><Relationship Type="http://schemas.microsoft.com/office/2018/10/relationships/authors" Target="/ppt/authors.xml" Id="Ra33779ebe64a492c" /><Relationship Type="http://schemas.openxmlformats.org/officeDocument/2006/relationships/slide" Target="/ppt/slides/slide1.xml" Id="R22b057c9c1cf4b7e" /><Relationship Type="http://schemas.openxmlformats.org/officeDocument/2006/relationships/slide" Target="/ppt/slides/slide2.xml" Id="R06f87ab3ffb64509" /><Relationship Type="http://schemas.openxmlformats.org/officeDocument/2006/relationships/slide" Target="/ppt/slides/slide3.xml" Id="R4b7a3aeb311d4ce6" /><Relationship Type="http://schemas.openxmlformats.org/officeDocument/2006/relationships/slide" Target="/ppt/slides/slide4.xml" Id="R5bed6629f28f402e" /><Relationship Type="http://schemas.openxmlformats.org/officeDocument/2006/relationships/slide" Target="/ppt/slides/slide5.xml" Id="Rf7a642b3b17c4541" /><Relationship Type="http://schemas.openxmlformats.org/officeDocument/2006/relationships/slide" Target="/ppt/slides/slide6.xml" Id="R8c8c88abc1e44336" /><Relationship Type="http://schemas.openxmlformats.org/officeDocument/2006/relationships/slide" Target="/ppt/slides/slide7.xml" Id="R3906d13d55e34f86" /><Relationship Type="http://schemas.openxmlformats.org/officeDocument/2006/relationships/slide" Target="/ppt/slides/slide8.xml" Id="R7ad7e696afa6475d" /><Relationship Type="http://schemas.openxmlformats.org/officeDocument/2006/relationships/slide" Target="/ppt/slides/slide9.xml" Id="Radba88c1dc6b430b" /><Relationship Type="http://schemas.openxmlformats.org/officeDocument/2006/relationships/slide" Target="/ppt/slides/slide10.xml" Id="R90e60261307d49ab" /><Relationship Type="http://schemas.openxmlformats.org/officeDocument/2006/relationships/slide" Target="/ppt/slides/slide11.xml" Id="R2b6db74d12bc441d" /><Relationship Type="http://schemas.openxmlformats.org/officeDocument/2006/relationships/slide" Target="/ppt/slides/slide12.xml" Id="R4865ebce2b484f55" /><Relationship Type="http://schemas.openxmlformats.org/officeDocument/2006/relationships/slide" Target="/ppt/slides/slide13.xml" Id="Ra6184868f6e84678" /><Relationship Type="http://schemas.openxmlformats.org/officeDocument/2006/relationships/slide" Target="/ppt/slides/slide14.xml" Id="R67276f520458437d" /><Relationship Type="http://schemas.openxmlformats.org/officeDocument/2006/relationships/slide" Target="/ppt/slides/slide15.xml" Id="R6d4e3f098c7e4230" /><Relationship Type="http://schemas.openxmlformats.org/officeDocument/2006/relationships/slide" Target="/ppt/slides/slide16.xml" Id="R4ee64e2a667542eb" /><Relationship Type="http://schemas.openxmlformats.org/officeDocument/2006/relationships/slide" Target="/ppt/slides/slide17.xml" Id="R22dca6ba562f4863" /><Relationship Type="http://schemas.openxmlformats.org/officeDocument/2006/relationships/slide" Target="/ppt/slides/slide18.xml" Id="Raa34d33cd92c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8034f17b7c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74020c8634fef" /><Relationship Type="http://schemas.openxmlformats.org/officeDocument/2006/relationships/notesMaster" Target="/ppt/notesMasters/notesMaster1.xml" Id="Ref93eaf485d440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3b485e2b5b4a13" /><Relationship Type="http://schemas.openxmlformats.org/officeDocument/2006/relationships/notesMaster" Target="/ppt/notesMasters/notesMaster1.xml" Id="R396ee1f1b4eb43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4207fa1cc14c6b" /><Relationship Type="http://schemas.openxmlformats.org/officeDocument/2006/relationships/notesMaster" Target="/ppt/notesMasters/notesMaster1.xml" Id="Ra6e0aad5e83a4a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79e8a8050641d2" /><Relationship Type="http://schemas.openxmlformats.org/officeDocument/2006/relationships/notesMaster" Target="/ppt/notesMasters/notesMaster1.xml" Id="Raea077a0af5941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f67360a314483d" /><Relationship Type="http://schemas.openxmlformats.org/officeDocument/2006/relationships/notesMaster" Target="/ppt/notesMasters/notesMaster1.xml" Id="Rcd90cc1eb7e047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a91010530b4215" /><Relationship Type="http://schemas.openxmlformats.org/officeDocument/2006/relationships/notesMaster" Target="/ppt/notesMasters/notesMaster1.xml" Id="R46ca24004061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52caf38efa418b" /><Relationship Type="http://schemas.openxmlformats.org/officeDocument/2006/relationships/notesMaster" Target="/ppt/notesMasters/notesMaster1.xml" Id="R3a56cdbff21048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9124fb93b847e1" /><Relationship Type="http://schemas.openxmlformats.org/officeDocument/2006/relationships/notesMaster" Target="/ppt/notesMasters/notesMaster1.xml" Id="R1845d8e9e44a42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96f1ebd9894af2" /><Relationship Type="http://schemas.openxmlformats.org/officeDocument/2006/relationships/notesMaster" Target="/ppt/notesMasters/notesMaster1.xml" Id="Rc89692fe293047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a3a58eaf4042ae" /><Relationship Type="http://schemas.openxmlformats.org/officeDocument/2006/relationships/notesMaster" Target="/ppt/notesMasters/notesMaster1.xml" Id="R6e1758a39a3f4a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905cb6a9884ba7" /><Relationship Type="http://schemas.openxmlformats.org/officeDocument/2006/relationships/notesMaster" Target="/ppt/notesMasters/notesMaster1.xml" Id="Rd3659e5f90fa48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b4326e101c472b" /><Relationship Type="http://schemas.openxmlformats.org/officeDocument/2006/relationships/notesMaster" Target="/ppt/notesMasters/notesMaster1.xml" Id="Re3c54d6da5e346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ad670446d34ab0" /><Relationship Type="http://schemas.openxmlformats.org/officeDocument/2006/relationships/notesMaster" Target="/ppt/notesMasters/notesMaster1.xml" Id="Re677f378988540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9e627578e254438" /><Relationship Type="http://schemas.openxmlformats.org/officeDocument/2006/relationships/notesMaster" Target="/ppt/notesMasters/notesMaster1.xml" Id="R8a2d1a091e9441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4cfec74d984052" /><Relationship Type="http://schemas.openxmlformats.org/officeDocument/2006/relationships/notesMaster" Target="/ppt/notesMasters/notesMaster1.xml" Id="R5459781d1b8e4c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7e008f0f954173" /><Relationship Type="http://schemas.openxmlformats.org/officeDocument/2006/relationships/notesMaster" Target="/ppt/notesMasters/notesMaster1.xml" Id="R998c2ab65030496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968f4cc8644c30" /><Relationship Type="http://schemas.openxmlformats.org/officeDocument/2006/relationships/notesMaster" Target="/ppt/notesMasters/notesMaster1.xml" Id="R5897902eae3f42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41b3d826344684" /><Relationship Type="http://schemas.openxmlformats.org/officeDocument/2006/relationships/notesMaster" Target="/ppt/notesMasters/notesMaster1.xml" Id="R5f61efa2320e48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第1页：开场。说明项目是 COMP9444 Project 077，主题是把自然语言问题转换成 SQL。这里不用讲技术细节，只要告诉老师每个人负责一部分，后面会按问题、数据、方法、结果和整合来讲。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第2页：讲动机。重点说 SQL 对普通用户有门槛，我们的模型让用户用英文问问题，系统生成 SQL。图里展示的是输入问题、数据库 schema，以及输出的 desired 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第3页：定义问题。老师要看到清楚的问题陈述。自然语言加 schema 是输入，SQL 是输出。难点包括 schema linking、join、aggregation、nested query，以及评估时严格 exact match 不等于真正语义正确。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第4页：文献综述。不要长篇解释论文，只讲它们给我们项目的启发：SQL 生成可以当序列任务；严格字符串匹配有局限；复杂 schema 需要更好的 schema linking；T5 系列适合 text-to-text。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第5页：讲数据和预处理。重点数字是 9397 条样本，7517/940/940 划分。强调 Member 1 的工作让后续 baseline、training、evaluation 可以直接使用 DataLoader。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speaking copy is intentionally visible on this reading-friendly slide.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baseline implementation: team_repo/src/baseline.py</a:t>
            </a:r>
          </a:p>
          <a:p xmlns:a="http://schemas.openxmlformats.org/drawingml/2006/main">
            <a:r>
              <a:t>- T5 architecture visual inherited from the polished project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speaking copy is intentionally visible on this reading-friendly slide.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team_repo/src/baseline.py</a:t>
            </a:r>
          </a:p>
          <a:p xmlns:a="http://schemas.openxmlformats.org/drawingml/2006/main">
            <a:r>
              <a:t>- team_repo/results/baseline_training_log.csv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speaking copy is intentionally visible on this reading-friendly slide.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team_repo/results/baseline_training_log.csv</a:t>
            </a:r>
          </a:p>
          <a:p xmlns:a="http://schemas.openxmlformats.org/drawingml/2006/main">
            <a:r>
              <a:t>- team_repo/results/baseline_full_summary.json</a:t>
            </a:r>
          </a:p>
          <a:p xmlns:a="http://schemas.openxmlformats.org/drawingml/2006/main">
            <a:r>
              <a:t>- team_repo/docs/experiments/figures/member2_baseline_loss.png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speaking copy is intentionally visible on this reading-friendly slide.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team_repo/results/baseline_predictions.csv</a:t>
            </a:r>
          </a:p>
          <a:p xmlns:a="http://schemas.openxmlformats.org/drawingml/2006/main">
            <a:r>
              <a:t>- team_repo/results/baseline_full_summary.json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explains the baseline limitations that motivate the improved method.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Member3_Model_Improvement_Presentation(2).pptx</a:t>
            </a:r>
          </a:p>
          <a:p xmlns:a="http://schemas.openxmlformats.org/drawingml/2006/main">
            <a:r>
              <a:t>- team_repo/docs/report/member3_improvement.md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implementation changes: schema-aware input, FLAN-T5-base and Beam 8 plus schema reranking.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Member3_Model_Improvement_Presentation(2).pptx</a:t>
            </a:r>
          </a:p>
          <a:p xmlns:a="http://schemas.openxmlformats.org/drawingml/2006/main">
            <a:r>
              <a:t>- team_repo/docs/report/member3_improvement.md</a:t>
            </a:r>
          </a:p>
          <a:p xmlns:a="http://schemas.openxmlformats.org/drawingml/2006/main">
            <a:r>
              <a:t>- team_repo/results/member3/v3_full_run/README_CN.md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model-improvement result. The result is reported as strict normalised exact match on the same 940-example test set.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Member3_Model_Improvement_Presentation(2).pptx</a:t>
            </a:r>
          </a:p>
          <a:p xmlns:a="http://schemas.openxmlformats.org/drawingml/2006/main">
            <a:r>
              <a:t>- team_repo/results/member3/v3_full_run/README_CN.md</a:t>
            </a:r>
          </a:p>
          <a:p xmlns:a="http://schemas.openxmlformats.org/drawingml/2006/main">
            <a:r>
              <a:t>- team_repo/results/baseline_full_summary.json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rationale for the combined improvement.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Member3_Model_Improvement_Presentation(2).pptx</a:t>
            </a:r>
          </a:p>
          <a:p xmlns:a="http://schemas.openxmlformats.org/drawingml/2006/main">
            <a:r>
              <a:t>- team_repo/docs/report/member3_improvement.md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3 limitations and hand-off.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Member3_Model_Improvement_Presentation(2).pptx</a:t>
            </a:r>
          </a:p>
          <a:p xmlns:a="http://schemas.openxmlformats.org/drawingml/2006/main">
            <a:r>
              <a:t>- team_repo/docs/report/member3_improvement.md</a:t>
            </a:r>
          </a:p>
          <a:p xmlns:a="http://schemas.openxmlformats.org/drawingml/2006/main">
            <a:r>
              <a:t>- team_repo/results/member3/v3_full_run/README_CN.md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第8页：Member 4 讲训练和评估框架。重点不是新模型，而是共享训练、checkpoint、early stopping、evaluate_model、SQL validity 和 error analysis。提醒老师 SQL validity 只说明能不能 parse，不代表语义完全正确。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第9页：讲结果。先讲主结果：baseline 10.96%，V3 greedy 14.15%，V3 Beam + schema rerank 17.66%。再讲 SQLGlot validity：最终 90.32%。最后一定要说这不是 execution accuracy，语法有效不代表一定回答正确。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第10页：这是你的个人贡献页。你要说：我没有乱改其他人的模型代码，而是修改 main.py，把 baseline、improvement、evaluate、test 整合成一个统一入口。170 passed 不是模型准确率，是软件测试通过数量。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第11页：收尾。总结强项、弱点和未来工作。最后强调最终 improved method 比 baseline 有提升，但 exact match 和 SQL validity 都有局限。最后说 Thank you, we are happy to take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7f327c4e94a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136ff35b345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4f33b782a43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dbe79f02940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db54aaf1a42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69d345f6e40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4d2a4f8eb477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c6629a2364f3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b499337684d0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6f36f13cf44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a99819be34e6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c46e6ef984e2d" /><Relationship Type="http://schemas.openxmlformats.org/officeDocument/2006/relationships/image" Target="/ppt/media/image.png" Id="Rc67a446dd8c548a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b4bf556c34bcc" /><Relationship Type="http://schemas.openxmlformats.org/officeDocument/2006/relationships/image" Target="/ppt/media/image.emf" Id="R41780da1bbe54aa1" /><Relationship Type="http://schemas.openxmlformats.org/officeDocument/2006/relationships/image" Target="/ppt/media/image2.emf" Id="Rf6df3eda963c4d8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dd18abf0c441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22017A-112E-4F9C-9DD8-4D3633DEF12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29E7DCA-4282-4966-A0D0-ED85BF1542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776FDB-EDC2-4298-AF91-D6157165E3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71C733B-44BD-43B1-9CE9-982F5F56E2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555F39-5197-41D8-998B-4B3B3B0168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EF09B8-C6C4-4102-920B-AEB8E9608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75F950-B790-4AE6-BBB1-C66667067C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0B69C0-811B-4376-BB04-12A87B6FAF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3ED23A-F4CC-4F6D-83B9-C29D665AFE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6DD67AB-6468-4935-A189-876A4655E1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7DBC4B-374B-4EA1-8111-1CCE5731D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4D841DC-0899-40DC-95F5-05BBC5F8B6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9F29DA-3C1B-47CD-97FD-819A7E6A52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3C6367-FDE5-448F-AB68-C250E52714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EF1499-A24F-45BB-A2C7-C3F3115756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92CF9A-EAD6-44D7-8D47-DFF081F8B8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145B6F-95C8-4591-A0F1-531D1B1B68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34D842C-5268-4681-A63D-1B58B91C89C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397CFC-2D8F-43F8-BA75-40EBE7FF2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37B8E3-1218-4F07-BB21-B681FF1391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5D4365-0E9F-4EB9-A4E3-A6BEB5A5A5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CC6D96-ADD1-45BC-8D06-7B94880426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3DA724-4B80-4ECB-AC59-D128AC2CA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C0FAEFE-9A0A-451D-917A-FCF2F957108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54C5105-77A2-4DF3-B957-50BEB35C7F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9EF436F-3AD5-4530-9295-8C495CF4D00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C853AD0-21C0-4E32-A0EA-4B31CB500D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DCA74AF-B0BA-4523-AA06-F8660F0422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D6B3F2F-6FC9-41D1-8259-A143F1B5BE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C3A875-F51C-4B27-9E33-E3B941A2D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5E5665D-AA99-4F85-A3CD-DF4E130F3C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8590C4-5A44-4737-BFA0-0436E6363E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18EB20B-52DB-4BC0-82A0-019D80C529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A7E1840-C51E-4C79-AD1C-EC7A6F0BA4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23451C7-6897-4AF5-9EB4-26AEBFF7E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848AE93-EF85-41FE-B388-CD0EDA10E9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0D5E06-4A95-4B98-B2A9-08E59DA02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D400599-664A-409F-8534-F441CE2A7C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EC07B7-A5D0-4A8E-82A9-00E781DF73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75AEB6-38CC-4AC4-A4D9-262B3E8D6F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D19546B-EAB7-47B0-8E3A-2E9346F83C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6C17C86-B709-485C-B9F5-242738ABD2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5CC8AC-190D-41C5-81F1-2427DB2CF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97E24E9-D26D-46AF-83C8-6396A5CD184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B49A139-8190-4B0E-B991-1C512CBEC2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1BD1FED-B9D9-4587-81F7-97A1555A4C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DD30AB-CA4F-46AE-9872-CB242F2D17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786F492-87BA-4B80-8577-AA543FD7BC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9DD75F-0D5E-45FD-A3B0-B211D0AFA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98EF79-F459-4FDF-9D21-14BDC21D7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FEA4FA-DC77-4E11-A40D-F35AE4FE07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546A34-B06F-4701-B502-06DFB6116D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D87FD6-D4CF-4174-A39C-8CEB21882C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C453D8F-64E6-4854-99B6-5A430B0CD5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9CFDC4-A5C9-4B7C-BF52-108D7F954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9E5D0D-037C-4375-A5D9-0A92ADDD2E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DC6A0A-3AFD-468A-8EAD-372F2A8637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3131F4-2F0D-422C-8A44-5B786CDE7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A8C210A-7CDA-4175-BBA2-BB9D2190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06291" y="372292"/>
            <a:ext cx="779419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a446dd8c548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7849" y="6139546"/>
            <a:ext cx="598271" cy="701040"/>
          </a:xfrm>
          <a:prstGeom xmlns:a="http://schemas.openxmlformats.org/drawingml/2006/main" prst="rect">
            <a:avLst/>
          </a:prstGeom>
        </p:spPr>
      </p:pic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EBFA308-306D-45A4-BEE4-EA1BE596D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2DA099-E0CA-4CC6-BAB2-7836972F0E6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088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  <a:lvl2pPr>
              <a:buNone/>
              <a:defRPr>
                <a:latin typeface="Arial"/>
                <a:ea typeface="Arial"/>
                <a:cs typeface="Arial"/>
              </a:defRPr>
            </a:lvl2pPr>
            <a:lvl3pPr>
              <a:buNone/>
              <a:defRPr>
                <a:latin typeface="Arial"/>
                <a:ea typeface="Arial"/>
                <a:cs typeface="Arial"/>
              </a:defRPr>
            </a:lvl3pPr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473E020-6039-49C6-A074-74F5C81CCA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EFF9128-045F-4616-81BB-2BBAEC5DB7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878C04-B367-4EEC-ACCF-07CBF71328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9F1539-09C2-4D3B-868C-5C6D3181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"/>
            <a:ext cx="5543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80da1bbe54a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999759">
            <a:off x="1292068" y="-612610"/>
            <a:ext cx="5135041" cy="7002330"/>
          </a:xfrm>
          <a:prstGeom xmlns:a="http://schemas.openxmlformats.org/drawingml/2006/main" prst="rect">
            <a:avLst/>
          </a:prstGeom>
        </p:spPr>
      </p:pic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f3eda963c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055" y="4792776"/>
            <a:ext cx="1760572" cy="18422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be56d87cad42a7" /><Relationship Type="http://schemas.openxmlformats.org/officeDocument/2006/relationships/slideLayout" Target="/ppt/slideLayouts/slideLayout1.xml" Id="R9207032a742f4811" /><Relationship Type="http://schemas.openxmlformats.org/officeDocument/2006/relationships/slideLayout" Target="/ppt/slideLayouts/slideLayout2.xml" Id="R9bd0aee86df6460c" /><Relationship Type="http://schemas.openxmlformats.org/officeDocument/2006/relationships/slideLayout" Target="/ppt/slideLayouts/slideLayout3.xml" Id="R5e2511357c994fb0" /><Relationship Type="http://schemas.openxmlformats.org/officeDocument/2006/relationships/slideLayout" Target="/ppt/slideLayouts/slideLayout4.xml" Id="Rb9ff93e1aed04e60" /><Relationship Type="http://schemas.openxmlformats.org/officeDocument/2006/relationships/slideLayout" Target="/ppt/slideLayouts/slideLayout5.xml" Id="Ra41cb65179b844ad" /><Relationship Type="http://schemas.openxmlformats.org/officeDocument/2006/relationships/slideLayout" Target="/ppt/slideLayouts/slideLayout6.xml" Id="R3fd28edb1b2d4e43" /><Relationship Type="http://schemas.openxmlformats.org/officeDocument/2006/relationships/slideLayout" Target="/ppt/slideLayouts/slideLayout7.xml" Id="R43272c51059542dc" /><Relationship Type="http://schemas.openxmlformats.org/officeDocument/2006/relationships/slideLayout" Target="/ppt/slideLayouts/slideLayout8.xml" Id="Rbfc3943a57da4d9f" /><Relationship Type="http://schemas.openxmlformats.org/officeDocument/2006/relationships/slideLayout" Target="/ppt/slideLayouts/slideLayout9.xml" Id="R781681e477874263" /><Relationship Type="http://schemas.openxmlformats.org/officeDocument/2006/relationships/slideLayout" Target="/ppt/slideLayouts/slideLayout10.xml" Id="R40e6de30b5b94b6f" /><Relationship Type="http://schemas.openxmlformats.org/officeDocument/2006/relationships/slideLayout" Target="/ppt/slideLayouts/slideLayout11.xml" Id="R2ccbe3c7ba27401b" /><Relationship Type="http://schemas.openxmlformats.org/officeDocument/2006/relationships/slideLayout" Target="/ppt/slideLayouts/slideLayout12.xml" Id="Ra7b8560755294e01" /><Relationship Type="http://schemas.openxmlformats.org/officeDocument/2006/relationships/slideLayout" Target="/ppt/slideLayouts/slideLayout13.xml" Id="R6039a661047646b4" /><Relationship Type="http://schemas.openxmlformats.org/officeDocument/2006/relationships/slideLayout" Target="/ppt/slideLayouts/slideLayout14.xml" Id="Rb9d794cf52f044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E9DD537-FBE7-4FDC-9FF9-C8905E49D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CC1209-7301-4AEE-A42D-A15AA6F4E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E0AB0E-64B9-43AA-990E-457799BA524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352658-6860-4C3B-A4A5-8160704D980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4A033D-4AA9-4C02-9451-D87450F47EA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7032a742f4811"/>
    <p:sldLayoutId xmlns:r="http://schemas.openxmlformats.org/officeDocument/2006/relationships" id="2147483650" r:id="R9bd0aee86df6460c"/>
    <p:sldLayoutId xmlns:r="http://schemas.openxmlformats.org/officeDocument/2006/relationships" id="2147483651" r:id="R5e2511357c994fb0"/>
    <p:sldLayoutId xmlns:r="http://schemas.openxmlformats.org/officeDocument/2006/relationships" id="2147483652" r:id="Rb9ff93e1aed04e60"/>
    <p:sldLayoutId xmlns:r="http://schemas.openxmlformats.org/officeDocument/2006/relationships" id="2147483653" r:id="Ra41cb65179b844ad"/>
    <p:sldLayoutId xmlns:r="http://schemas.openxmlformats.org/officeDocument/2006/relationships" id="2147483654" r:id="R3fd28edb1b2d4e43"/>
    <p:sldLayoutId xmlns:r="http://schemas.openxmlformats.org/officeDocument/2006/relationships" id="2147483655" r:id="R43272c51059542dc"/>
    <p:sldLayoutId xmlns:r="http://schemas.openxmlformats.org/officeDocument/2006/relationships" id="2147483656" r:id="Rbfc3943a57da4d9f"/>
    <p:sldLayoutId xmlns:r="http://schemas.openxmlformats.org/officeDocument/2006/relationships" id="2147483657" r:id="R781681e477874263"/>
    <p:sldLayoutId xmlns:r="http://schemas.openxmlformats.org/officeDocument/2006/relationships" id="2147483658" r:id="R40e6de30b5b94b6f"/>
    <p:sldLayoutId xmlns:r="http://schemas.openxmlformats.org/officeDocument/2006/relationships" id="2147483659" r:id="R2ccbe3c7ba27401b"/>
    <p:sldLayoutId xmlns:r="http://schemas.openxmlformats.org/officeDocument/2006/relationships" id="2147483660" r:id="Ra7b8560755294e01"/>
    <p:sldLayoutId xmlns:r="http://schemas.openxmlformats.org/officeDocument/2006/relationships" id="2147483661" r:id="R6039a661047646b4"/>
    <p:sldLayoutId xmlns:r="http://schemas.openxmlformats.org/officeDocument/2006/relationships" id="2147483662" r:id="Rb9d794cf52f0446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737cf87b2477f" /><Relationship Type="http://schemas.openxmlformats.org/officeDocument/2006/relationships/image" Target="/ppt/media/image.png" Id="R7bfdd1817df34dba" /><Relationship Type="http://schemas.openxmlformats.org/officeDocument/2006/relationships/notesSlide" Target="/ppt/notesSlides/notesSlide1.xml" Id="R17e3fd97494f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6cf5e68ca4359" /><Relationship Type="http://schemas.openxmlformats.org/officeDocument/2006/relationships/image" Target="/ppt/media/image2.png" Id="R82b898fe63444501" /><Relationship Type="http://schemas.openxmlformats.org/officeDocument/2006/relationships/image" Target="/ppt/media/image.png" Id="Rb6965f813134411a" /><Relationship Type="http://schemas.openxmlformats.org/officeDocument/2006/relationships/notesSlide" Target="/ppt/notesSlides/notesSlide2.xml" Id="R603c03955e7041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c6412b08744b6" /><Relationship Type="http://schemas.openxmlformats.org/officeDocument/2006/relationships/image" Target="/ppt/media/image.png" Id="Rac371d54689e4930" /><Relationship Type="http://schemas.openxmlformats.org/officeDocument/2006/relationships/notesSlide" Target="/ppt/notesSlides/notesSlide3.xml" Id="R1895010c15f342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310ad66a4cd9" /><Relationship Type="http://schemas.openxmlformats.org/officeDocument/2006/relationships/image" Target="/ppt/media/image.png" Id="R6aed91a1639f425e" /><Relationship Type="http://schemas.openxmlformats.org/officeDocument/2006/relationships/notesSlide" Target="/ppt/notesSlides/notesSlide4.xml" Id="R6005f32a242a48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c3b259eb14af8" /><Relationship Type="http://schemas.openxmlformats.org/officeDocument/2006/relationships/image" Target="/ppt/media/image.png" Id="R9597f93fee304f5e" /><Relationship Type="http://schemas.openxmlformats.org/officeDocument/2006/relationships/notesSlide" Target="/ppt/notesSlides/notesSlide5.xml" Id="Rdf99e47e46c147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aca2e9985448fa" /><Relationship Type="http://schemas.openxmlformats.org/officeDocument/2006/relationships/image" Target="/ppt/media/image3.png" Id="Ra3000c17b1f84884" /><Relationship Type="http://schemas.openxmlformats.org/officeDocument/2006/relationships/notesSlide" Target="/ppt/notesSlides/notesSlide6.xml" Id="R63fc7566a3a941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5a4bcdcb0641d3" /><Relationship Type="http://schemas.openxmlformats.org/officeDocument/2006/relationships/notesSlide" Target="/ppt/notesSlides/notesSlide7.xml" Id="Ra3249776cd684d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a3f09d2bc34152" /><Relationship Type="http://schemas.openxmlformats.org/officeDocument/2006/relationships/image" Target="/ppt/media/image4.png" Id="R3748eacee96445bc" /><Relationship Type="http://schemas.openxmlformats.org/officeDocument/2006/relationships/notesSlide" Target="/ppt/notesSlides/notesSlide8.xml" Id="Re7f9f37b30b849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1a67e728b44ff9" /><Relationship Type="http://schemas.openxmlformats.org/officeDocument/2006/relationships/notesSlide" Target="/ppt/notesSlides/notesSlide9.xml" Id="R62da62d1980643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eaceb953df74549" /><Relationship Type="http://schemas.openxmlformats.org/officeDocument/2006/relationships/image" Target="/ppt/media/image.png" Id="R8299638724304c01" /><Relationship Type="http://schemas.openxmlformats.org/officeDocument/2006/relationships/notesSlide" Target="/ppt/notesSlides/notesSlide10.xml" Id="R0864cc06f1b34f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41f6c82484342d5" /><Relationship Type="http://schemas.openxmlformats.org/officeDocument/2006/relationships/image" Target="/ppt/media/image.png" Id="Reac171e35d164d8d" /><Relationship Type="http://schemas.openxmlformats.org/officeDocument/2006/relationships/notesSlide" Target="/ppt/notesSlides/notesSlide11.xml" Id="Rfb995c31d31e41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15ea8d83ee8a402b" /><Relationship Type="http://schemas.openxmlformats.org/officeDocument/2006/relationships/image" Target="/ppt/media/image.png" Id="R8bfe8de4f7d74882" /><Relationship Type="http://schemas.openxmlformats.org/officeDocument/2006/relationships/notesSlide" Target="/ppt/notesSlides/notesSlide12.xml" Id="R4199926a61394e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48541b90bc5c4f2e" /><Relationship Type="http://schemas.openxmlformats.org/officeDocument/2006/relationships/image" Target="/ppt/media/image.png" Id="R55a85a03a4864d75" /><Relationship Type="http://schemas.openxmlformats.org/officeDocument/2006/relationships/chart" Target="/ppt/slides/charts/chart1.xml" Id="R1055ebe90479427c" /><Relationship Type="http://schemas.openxmlformats.org/officeDocument/2006/relationships/notesSlide" Target="/ppt/notesSlides/notesSlide13.xml" Id="R55366806e38349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2f75617ddce437b" /><Relationship Type="http://schemas.openxmlformats.org/officeDocument/2006/relationships/image" Target="/ppt/media/image.png" Id="R0d15511be5cb4ce5" /><Relationship Type="http://schemas.openxmlformats.org/officeDocument/2006/relationships/notesSlide" Target="/ppt/notesSlides/notesSlide14.xml" Id="R9291b400c9d043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ab6212a2834452c" /><Relationship Type="http://schemas.openxmlformats.org/officeDocument/2006/relationships/image" Target="/ppt/media/image.png" Id="R7b28c121c7ef4352" /><Relationship Type="http://schemas.openxmlformats.org/officeDocument/2006/relationships/notesSlide" Target="/ppt/notesSlides/notesSlide15.xml" Id="Ra43f2384839a4e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215c95e6f4d5e" /><Relationship Type="http://schemas.openxmlformats.org/officeDocument/2006/relationships/image" Target="/ppt/media/image5.png" Id="R94ef5142befd4261" /><Relationship Type="http://schemas.openxmlformats.org/officeDocument/2006/relationships/image" Target="/ppt/media/image.png" Id="Ra35b3277493e452d" /><Relationship Type="http://schemas.openxmlformats.org/officeDocument/2006/relationships/notesSlide" Target="/ppt/notesSlides/notesSlide16.xml" Id="Rd4313ff969024e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120bdda454577" /><Relationship Type="http://schemas.openxmlformats.org/officeDocument/2006/relationships/image" Target="/ppt/media/image.png" Id="Rb54293003fb94a6e" /><Relationship Type="http://schemas.openxmlformats.org/officeDocument/2006/relationships/notesSlide" Target="/ppt/notesSlides/notesSlide17.xml" Id="R69c5d5e324de4f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eccb780444da3" /><Relationship Type="http://schemas.openxmlformats.org/officeDocument/2006/relationships/image" Target="/ppt/media/image.png" Id="R9bf2ab89b8c5418f" /><Relationship Type="http://schemas.openxmlformats.org/officeDocument/2006/relationships/notesSlide" Target="/ppt/notesSlides/notesSlide18.xml" Id="Refab81861990490c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Normalised Exact Match (%)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Baseline</c:v>
              </c:pt>
              <c:pt idx="1">
                <c:v>V3 Greedy</c:v>
              </c:pt>
              <c:pt idx="2">
                <c:v>V3 Beam 8</c:v>
              </c:pt>
            </c:strLit>
          </c:cat>
          <c:val>
            <c:numLit>
              <c:formatCode>General</c:formatCode>
              <c:ptCount val="3"/>
              <c:pt idx="0">
                <c:v>10.96</c:v>
              </c:pt>
              <c:pt idx="1">
                <c:v>14.15</c:v>
              </c:pt>
              <c:pt idx="2">
                <c:v>17.66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  <c:max val="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es val="autoZero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 showMasterSp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D04AF72-2AFB-472E-AA0E-277F824E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632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dd1817df34d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336" y="5257800"/>
            <a:ext cx="640080" cy="74980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2A1FD05-80B2-4CD2-8170-02AEB19D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828800"/>
            <a:ext cx="2395728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 Prompt</a:t>
            </a:r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Generation from</a:t>
            </a:r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Natural Language</a:t>
            </a:r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0ACA61-1270-4116-8541-FEC73D41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39312"/>
            <a:ext cx="2240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3C24583-6DE6-4B5A-8D19-76E9C23A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914400"/>
            <a:ext cx="7132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COMP9444 · Neural Networks and Deep Learning</a:t>
            </a:r>
          </a:p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 077 · Text-to-SQL Generation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9A29B84-D656-4E57-A118-AF1C2E60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3172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KKKKK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513C546-A434-45AA-AAC7-DD75E8E8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8305800" cy="1993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Member 1  </a:t>
            </a:r>
            <a:r>
              <a:rPr sz="1600"/>
              <a:t>Mingyuan Xu (z5707025)                                                          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preprocessing</a:t>
            </a:r>
          </a:p>
          <a:p xmlns:a="http://schemas.openxmlformats.org/drawingml/2006/main"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Member 2  </a:t>
            </a:r>
            <a:r>
              <a:rPr sz="1600"/>
              <a:t>Ruoyu Jiang (z5546234)                                                              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T5-small baseline</a:t>
            </a:r>
          </a:p>
          <a:p xmlns:a="http://schemas.openxmlformats.org/drawingml/2006/main"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Member 3  </a:t>
            </a:r>
            <a:r>
              <a:rPr sz="1600"/>
              <a:t>Hangji Liu (z5660625)                                                               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 improvement</a:t>
            </a:r>
          </a:p>
          <a:p xmlns:a="http://schemas.openxmlformats.org/drawingml/2006/main"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Member 4  </a:t>
            </a:r>
            <a:r>
              <a:rPr sz="1600"/>
              <a:t>Yihan Zhou (z5676668)                                                       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and evaluation</a:t>
            </a:r>
          </a:p>
          <a:p xmlns:a="http://schemas.openxmlformats.org/drawingml/2006/main"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Member 5  </a:t>
            </a:r>
            <a:r>
              <a:rPr sz="1600"/>
              <a:t>Chenghao Ruan (z5617856)                                       </a:t>
            </a: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and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28502363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1FAF23B-81B7-4DD2-8E71-D600BD5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Motivation: make databases accessible through language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3C557E4-FDD9-49A8-8F67-36739E2E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" y="786384"/>
            <a:ext cx="5486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this matters: </a:t>
            </a:r>
            <a:r>
              <a:rPr sz="170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many useful databases require SQL knowledge, which is a barrier for non-technical users. Text-to-SQL lets users ask a question in English and obtain a query that can retrieve the required data.
</a:t>
            </a:r>
            <a:r>
              <a:rPr sz="1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Our goal: </a:t>
            </a:r>
            <a:r>
              <a:rPr sz="170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fine-tune sequence-to-sequence models that map a natural-language question and schema context to a precise SQLite query</a:t>
            </a:r>
            <a:r>
              <a:rPr sz="133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898fe6344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352" y="2450592"/>
            <a:ext cx="10789920" cy="24963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A9AB182-5AF6-4701-B119-8E0CE927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925312"/>
            <a:ext cx="9875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Example task: natural language question + schema links → desired SQL.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AB7DF5EA-E02E-4A3D-B590-370BCB51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282F96B-D11C-4590-89A2-F1F4CB1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1 - Mingyuan Xu (z5707025) | COMP9444 Project 077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C8FF1BB-D103-4ABC-A96F-3EE78670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65f81313441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1908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B95D34-0594-4795-8E27-0151BBF6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1B8D58-8D44-467A-832E-812B3994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836676"/>
            <a:ext cx="5669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definition: </a:t>
            </a: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given a natural-language query plus database schema information, generate a syntactically and semantically accurate SQL statement.
</a:t>
            </a: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Hard parts: </a:t>
            </a: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model must link words in the question to tables and columns, handle joins and aggregation, and avoid producing SQL that looks valid but answers the wrong question.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CB90F8B-CDAC-4F9E-9E24-E814401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88920"/>
            <a:ext cx="10607040" cy="479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31EF56-F42F-4FF1-9B67-AF09B9BD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16352"/>
            <a:ext cx="3514954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A66EBC7-2B64-4919-993C-17C66570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2788920"/>
            <a:ext cx="0" cy="47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A2CE53-92BB-4329-80C9-6331B17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2816352"/>
            <a:ext cx="6909206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A81BB34-3216-4370-AAEB-197C857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8066"/>
            <a:ext cx="10607040" cy="479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9B7654-AB20-4C12-AA62-0E412BF1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5498"/>
            <a:ext cx="3514954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 linking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2F96C26-ABEB-43DC-926F-390F829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3268066"/>
            <a:ext cx="0" cy="47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E794D12-F748-425F-ACED-6A0F8BE0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3295498"/>
            <a:ext cx="6909206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the correct tables and columns from the prompt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FA4819B-B82C-4417-A5B1-FE82DBAA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47211"/>
            <a:ext cx="10607040" cy="479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CAF52B-ED60-4324-BC7D-1ECBAAC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74643"/>
            <a:ext cx="3514954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Query structure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DB22BC-CAA6-4273-8FAC-C8B86C77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3747211"/>
            <a:ext cx="0" cy="47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23D058-FCBF-4B50-B319-C31A3D3B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3774643"/>
            <a:ext cx="6909206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Generate joins, filters, ordering, aggregation and nested queries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8A7CBF0-6797-43C9-80F3-A223C8E6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26357"/>
            <a:ext cx="10607040" cy="479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56720A9-3EF5-4470-9C9F-B29ADFC7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53789"/>
            <a:ext cx="3514954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B82F074-DAE5-45C2-8F95-5F3724D1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4226357"/>
            <a:ext cx="0" cy="47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4569571-C72A-4D73-ABC8-47D37E2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253789"/>
            <a:ext cx="6909206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string match can reject semantically equivalent SQL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38AFAC4-294E-4A23-AD51-C75A728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05502"/>
            <a:ext cx="10607040" cy="4791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BD3C023-2681-47E1-BBF3-8648612C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32934"/>
            <a:ext cx="3514954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D0C0BEE-2D61-4841-9BF6-DD40DD9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4705502"/>
            <a:ext cx="0" cy="4791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A0E01C-5936-4DF3-8301-6055283E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732934"/>
            <a:ext cx="6909206" cy="4242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modules must share the same split, seed and run commands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F02071C-B5B0-4402-A411-FF661B3B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C55FD7E-91B0-4572-9A74-E8FD5C9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1 - Mingyuan Xu (z5707025) | COMP9444 Project 077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47259EE-77AB-4E62-B8AA-AAF6921B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71d54689e4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28539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6FD64C-53ED-4153-9A42-81EDF35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Literature Review: what previous Text-to-SQL work teaches us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BAE9C7-E3AD-4242-8E20-A6A6852F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820674"/>
            <a:ext cx="6766560" cy="406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Seq2SQL: </a:t>
            </a: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frames SQL generation as structured sequence prediction and shows that decoding choices affect final queries.
</a:t>
            </a: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SQLNet</a:t>
            </a: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highlights that equivalent condition order can make strict sequence matching difficult.
</a:t>
            </a: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RAT-SQL: </a:t>
            </a: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emphasises</a:t>
            </a: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 explicit schema linking and relation-aware encoding for complex database schemas.
</a:t>
            </a: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T5 / FLAN-T5: </a:t>
            </a: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supports a text-to-text formulation, so the same framework can read schema + question and generate SQL text.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422230-9939-4102-9029-AD762921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097280"/>
            <a:ext cx="20574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2A66D9"/>
                </a:solidFill>
                <a:latin typeface="Arial"/>
                <a:ea typeface="Arial"/>
                <a:cs typeface="Arial"/>
              </a:rPr>
              <a:t>Schema</a:t>
            </a:r>
          </a:p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2A66D9"/>
                </a:solidFill>
                <a:latin typeface="Arial"/>
                <a:ea typeface="Arial"/>
                <a:cs typeface="Arial"/>
              </a:rPr>
              <a:t>linking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CE7C99-18BF-40C8-BC07-78C442DA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707185"/>
            <a:ext cx="2057400" cy="368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central challenge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B307E0-1E9D-4DD0-84B7-E362A6D8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532888"/>
            <a:ext cx="20574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50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E8F68"/>
                </a:solidFill>
                <a:latin typeface="Arial"/>
                <a:ea typeface="Arial"/>
                <a:cs typeface="Arial"/>
              </a:rPr>
              <a:t>Text-to-text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BE06A1-6D89-4279-A293-BCD62C09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42793"/>
            <a:ext cx="2057400" cy="368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simple baseline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99C548-F517-4387-8A20-6507AD90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968496"/>
            <a:ext cx="20574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Strict EM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72CC11-F2CE-4A8A-B696-B649EDF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578401"/>
            <a:ext cx="2057400" cy="3680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with caution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30AD13F-CABE-4865-9ECA-25ED37C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925312"/>
            <a:ext cx="9875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Related methods referenced in the project brief and team reports: Seq2SQL, SQLNet, RAT-SQL, T5/FLAN-T5.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DDFEBFC-2BF4-42C4-8710-4D19ADB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ED70E5D-0C7B-47D4-A72E-C0368C5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1 - Mingyuan Xu (z5707025) | COMP9444 Project 077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3B01AE-0BA6-4D9E-ACEB-1B69693E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d91a1639f42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20610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282CFC-DA65-4D5D-8A2C-E1643310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 and preprocessing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AD2712-0D33-498F-AF0A-0B5E2F02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868680"/>
            <a:ext cx="649224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Dataset: 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SQL Generator No 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CoT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 from Hugging Face. Each example contains an English natural-language question and a target SQL query.
</a:t>
            </a:r>
            <a:r>
              <a:rPr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Cleaning: 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remove duplicate rows, trim prompt text, extract SQL from markdown code blocks, and keep the final columns as prompt and SQL.
</a:t>
            </a:r>
            <a:r>
              <a:rPr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Split and </a:t>
            </a:r>
            <a:r>
              <a:rPr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tokenisation</a:t>
            </a:r>
            <a:r>
              <a:rPr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use random seed 42 and an 80/10/10 split. Prompts are 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tokenised</a:t>
            </a:r>
            <a:r>
              <a:rPr>
                <a:solidFill>
                  <a:srgbClr val="111111"/>
                </a:solidFill>
                <a:latin typeface="Arial"/>
                <a:ea typeface="Arial"/>
                <a:cs typeface="Arial"/>
              </a:rPr>
              <a:t> to a maximum of 512 tokens and SQL targets to 256 tokens.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949EE3-8D23-42C9-B5BA-4101AC32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914400"/>
            <a:ext cx="155448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9,397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1BDDD24-F841-4D2A-90B9-5AC9F156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418234"/>
            <a:ext cx="155448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cleaned examples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9D071D9-2643-4E4D-B592-74452327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914400"/>
            <a:ext cx="132588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2A66D9"/>
                </a:solidFill>
                <a:latin typeface="Arial"/>
                <a:ea typeface="Arial"/>
                <a:cs typeface="Arial"/>
              </a:rPr>
              <a:t>7,517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84742C1-9316-469E-B63C-132313A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1418234"/>
            <a:ext cx="132588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D46A72-933E-45BF-BE0C-BDF7D5C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40280"/>
            <a:ext cx="1280160" cy="4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E8F68"/>
                </a:solidFill>
                <a:latin typeface="Arial"/>
                <a:ea typeface="Arial"/>
                <a:cs typeface="Arial"/>
              </a:rPr>
              <a:t>940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36A020-68C3-4E52-9295-CA3BB190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706990"/>
            <a:ext cx="1280160" cy="281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0F5A20-CAE0-474C-8856-253E7371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40280"/>
            <a:ext cx="1097280" cy="4425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940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BB789A9-8FEC-4E40-8A19-42EE748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6990"/>
            <a:ext cx="1097280" cy="2816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AA6AFF6-9660-4864-B211-EC1745A0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0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4117BEA-7506-4F3F-9B05-BDCF3789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8503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D49260E-C67B-48B5-921D-AFE9C227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36576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1314524-0D99-4C87-8B12-005E552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368503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 for later members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FB34CD9-F59C-4E65-8810-857A811C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7764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052DB7-B4B1-4B60-A106-B37F7289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0507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load_raw_dataset()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34D959-2418-4C2E-A6B8-544BBBD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397764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3A97521-4895-45BC-BF1E-E42BD0B9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00507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CSV from AI4DS/sql_generator_no_cot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C4E7C63-7C05-41BD-B7BD-D55A070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56D9AC-4AF9-4D50-B582-C3E279F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2511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clean_dataset()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868EE97-19E0-4822-BC18-5F4F525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429768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753D797-1EB3-4B17-970C-2DA699D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32511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prompt + sql columns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8925F43-24CA-4B8C-AF7B-AF15B1C7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1772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80756D5-C4F0-4D72-906B-9EF642D6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4515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split_dataset()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69DAAB4-71F4-482A-BED2-29997A8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46177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D0056F9-23FF-4F23-BA90-4DB9BA6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64515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 / validation / test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F64C722-FB3F-4FE2-B62A-6E069E5C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3776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63C5E7D-298E-4AF5-ACBB-80674DB6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6519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tokenize_dataset()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10736DC-65F6-40A7-B071-2385248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493776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9CF7BFD-87B2-4EAA-9A1D-3FE9CD28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496519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input_ids, attention_mask, labels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8252F586-8168-462F-8B0B-63F78592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57800"/>
            <a:ext cx="10607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FD7DF2A-9D95-4E79-B91D-F19DEB5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3514954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build_dataloaders()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850C0CE-2099-4E5C-ACF9-38A47288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754" y="52578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6567BF28-5674-4FAB-ADF3-6B2EEC8B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474" y="5285232"/>
            <a:ext cx="6909206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PyTorch DataLoaders for training and evaluation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DFDD0C6-4251-4DF3-856C-6454FE97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19970C6C-55AF-4D74-BA80-8D080B5D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1 - Mingyuan Xu (z5707025) | COMP9444 Project 077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D935362D-0E85-46C3-838E-016F064D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7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7f93fee304f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664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731563-E166-4333-99A5-1A48F809C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Why T5-small is our baseline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477D98-E1F9-4C39-A3B6-E90FC79EFB4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19100" y="1190625"/>
            <a:ext cx="11334750" cy="2143125"/>
          </a:xfrm>
        </p:spPr>
        <p:txBody>
          <a:bodyPr xmlns:a="http://schemas.openxmlformats.org/drawingml/2006/main" lIns="76200" tIns="76200" rIns="95250" bIns="762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10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9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 contribution begins with the baseline choice. </a:t>
            </a:r>
            <a:r>
              <a:rPr sz="1390">
                <a:solidFill>
                  <a:srgbClr val="111111"/>
                </a:solidFill>
                <a:latin typeface="Arial"/>
                <a:ea typeface="Arial"/>
                <a:cs typeface="Arial"/>
              </a:rPr>
              <a:t>We use T5-small because text-to-SQL can be formulated as a text-to-text task.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9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it works: </a:t>
            </a:r>
            <a:r>
              <a:rPr sz="139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encoder reads the database schema together with the natural-language question. The decoder then generates the SQL query token by token.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9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this model: </a:t>
            </a:r>
            <a:r>
              <a:rPr sz="1390">
                <a:solidFill>
                  <a:srgbClr val="111111"/>
                </a:solidFill>
                <a:latin typeface="Arial"/>
                <a:ea typeface="Arial"/>
                <a:cs typeface="Arial"/>
              </a:rPr>
              <a:t>T5-small is pretrained, computationally manageable on Kaggle, and straightforward for the whole team to reproduce.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9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it is a useful baseline: </a:t>
            </a:r>
            <a:r>
              <a:rPr sz="1390">
                <a:solidFill>
                  <a:srgbClr val="111111"/>
                </a:solidFill>
                <a:latin typeface="Arial"/>
                <a:ea typeface="Arial"/>
                <a:cs typeface="Arial"/>
              </a:rPr>
              <a:t>it has no built-in schema graph or SQL grammar. Later prompt, schema-aware input and decoding improvements can therefore be compared against a simple and transparent reference.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EAF7922-D9FD-4633-8E9B-DA70BC5EE7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00c17b1f84884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2535" y="3143250"/>
            <a:ext cx="8419465" cy="280987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E191D3E-708C-42D2-918D-A237542E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2 - Ruoyu Jiang (z5546234)</a:t>
            </a:r>
          </a:p>
        </p:txBody>
      </p:sp>
      <p:sp>
        <p:nvSpPr>
          <p:cNvPr id="7" name="Text 9">
            <a:extLst xmlns:a="http://schemas.openxmlformats.org/drawingml/2006/main">
              <a:ext uri="{FF2B5EF4-FFF2-40B4-BE49-F238E27FC236}">
                <a16:creationId xmlns:a16="http://schemas.microsoft.com/office/drawing/2014/main" id="{51C54A2E-19B6-467F-BD63-D036870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98815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96115A-89A1-4C63-9E54-3F536411EE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A controlled and reproducible training setup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ED390FC-D887-4ADF-B912-DEF7DA3FBD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8625" y="1285875"/>
            <a:ext cx="7239000" cy="4333875"/>
          </a:xfrm>
        </p:spPr>
        <p:txBody>
          <a:bodyPr xmlns:a="http://schemas.openxmlformats.org/drawingml/2006/main" lIns="76200" tIns="76200" rIns="95250" bIns="762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15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objective: 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I use token-level cross-entropy loss and ignore padding labels, so padded positions do not contribute to the gradient.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Optimisation</a:t>
            </a: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: 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pretrained T5-small parameters are fine-tuned with 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AdamW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, a learning rate of 5e-5, and batch size 4. Inputs are limited to 512 tokens and SQL targets to 256 tokens.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Checkpoint selection: 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I train for 10 epochs with random seed 42, evaluate validation loss after every epoch, and save the checkpoint with the lowest validation loss.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39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Inference: </a:t>
            </a:r>
            <a:r>
              <a:rPr sz="1800">
                <a:solidFill>
                  <a:srgbClr val="111111"/>
                </a:solidFill>
                <a:latin typeface="Arial"/>
                <a:ea typeface="Arial"/>
                <a:cs typeface="Arial"/>
              </a:rPr>
              <a:t>greedy decoding with one beam keeps prediction simple and deterministic. This setup gives later methods the same clear reference point</a:t>
            </a:r>
            <a:r>
              <a:rPr sz="139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CEA9D34-C978-44B8-8394-A2D001015C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E4043A-4B1C-49A0-959B-73D85B27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2 - Ruoyu Jiang (z5546234)</a:t>
            </a:r>
          </a:p>
        </p:txBody>
      </p:sp>
      <p:sp>
        <p:nvSpPr>
          <p:cNvPr id="7" name="Member 2 training settings">
            <a:extLst xmlns:a="http://schemas.openxmlformats.org/drawingml/2006/main">
              <a:ext uri="{FF2B5EF4-FFF2-40B4-BE49-F238E27FC236}">
                <a16:creationId xmlns:a16="http://schemas.microsoft.com/office/drawing/2014/main" id="{8E2C6CBF-DFFD-4777-85C6-3F00181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33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57150" rIns="57150" bIns="571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 epochs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5e-5</a:t>
            </a: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  learning rate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  <a:r>
              <a:rPr sz="1575">
                <a:solidFill>
                  <a:srgbClr val="111111"/>
                </a:solidFill>
                <a:latin typeface="Arial"/>
                <a:ea typeface="Arial"/>
                <a:cs typeface="Arial"/>
              </a:rPr>
              <a:t>  batch size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512 → 256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/ target token limits</a:t>
            </a:r>
          </a:p>
          <a:p xmlns:a="http://schemas.openxmlformats.org/drawingml/2006/main">
            <a:pPr algn="l"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seed 42  ·  one-beam greedy</a:t>
            </a:r>
          </a:p>
        </p:txBody>
      </p:sp>
      <p:sp>
        <p:nvSpPr>
          <p:cNvPr id="8" name="Text 9">
            <a:extLst xmlns:a="http://schemas.openxmlformats.org/drawingml/2006/main">
              <a:ext uri="{FF2B5EF4-FFF2-40B4-BE49-F238E27FC236}">
                <a16:creationId xmlns:a16="http://schemas.microsoft.com/office/drawing/2014/main" id="{A9193FAA-5873-4E2F-AC3D-F5885AFF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00326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84753E-0C13-4D07-9FDE-8730EA357D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Ten epochs reach 10.96% strict exact match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CB6E570-F598-41B1-86A4-AB4A004800C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477125" y="1257300"/>
            <a:ext cx="4191000" cy="4429125"/>
          </a:xfrm>
        </p:spPr>
        <p:txBody>
          <a:bodyPr xmlns:a="http://schemas.openxmlformats.org/drawingml/2006/main" lIns="57150" tIns="57150" rIns="57150" bIns="5715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0"/>
              </a:spcAft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10.96%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103 / 940 </a:t>
            </a: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normalised</a:t>
            </a: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exact matches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loss curves decrease steadily. Training loss falls from 1.061 to 0.249, while validation loss falls from 0.507 to 0.231.</a:t>
            </a:r>
          </a:p>
          <a:p xmlns:a="http://schemas.openxmlformats.org/drawingml/2006/main">
            <a:pPr marL="0" indent="0" algn="l">
              <a:spcAft>
                <a:spcPts val="10"/>
              </a:spcAft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Because validation loss is lowest at epoch 10, I select the epoch-10 checkpoint. There is no obvious loss-curve evidence of overfitting.</a:t>
            </a:r>
          </a:p>
          <a:p xmlns:a="http://schemas.openxmlformats.org/drawingml/2006/main">
            <a:pPr marL="0" indent="0" algn="l">
              <a:spcAft>
                <a:spcPts val="0"/>
              </a:spcAft>
              <a:buNone/>
              <a:defRPr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match improves from 7.55% at epoch 5 to 10.96% at epoch 10, a gain of 3.40 percentage points. However, this does not prove complete convergence.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652548-49E4-4EA7-829D-5378D8B052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E5589C0-E1E2-489D-A6E5-9EA2C151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2 - Ruoyu Jiang (z5546234)</a:t>
            </a:r>
          </a:p>
        </p:txBody>
      </p:sp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8eacee96445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362" y="1381125"/>
            <a:ext cx="6498526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Text 9">
            <a:extLst xmlns:a="http://schemas.openxmlformats.org/drawingml/2006/main">
              <a:ext uri="{FF2B5EF4-FFF2-40B4-BE49-F238E27FC236}">
                <a16:creationId xmlns:a16="http://schemas.microsoft.com/office/drawing/2014/main" id="{F5A680E7-0A35-441F-BD1D-068A04A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187279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C0C357-7948-4101-9A88-60828048C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What the baseline reveals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834F47-2ABF-45F6-9266-A688E71DC3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3850" y="1066800"/>
            <a:ext cx="11334750" cy="4762500"/>
          </a:xfrm>
        </p:spPr>
        <p:txBody>
          <a:bodyPr xmlns:a="http://schemas.openxmlformats.org/drawingml/2006/main" lIns="76200" tIns="76200" rIns="95250" bIns="762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spcAft>
                <a:spcPts val="15"/>
              </a:spcAft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the model learns: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T5-small captures common SQL syntax and some simple filters, joins and repeated query patterns.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Where it fails: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 linking and precise aggregation remain difficult. The model may select the wrong table or column, misuse aliases, or generate an incomplete filter.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Representative example: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prediction uses COUNT(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category_id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), while the reference requires COUNT(DISTINCT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category_id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). The SQL is close, but its meaning is different.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to interpret 10.96%: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our metric uses strict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normalised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 exact match. Equivalent SQL strings can still be counted as wrong, and we cannot report execution accuracy because the populated databases are unavailable.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 sz="142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 contribution and next step: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I implemented the T5-small baseline, selected the training configuration, produced the checkpoint, and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analysed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 the results. The baseline and improved prompts should now be compared with the same epochs, random seed and test rows.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1878F30-7B30-4520-B36A-894DE9B17C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BDDA3AD-B045-423F-AB13-C23DD4BB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2 - Ruoyu Jiang (z5546234)</a:t>
            </a:r>
          </a:p>
        </p:txBody>
      </p:sp>
      <p:sp>
        <p:nvSpPr>
          <p:cNvPr id="7" name="Text 9">
            <a:extLst xmlns:a="http://schemas.openxmlformats.org/drawingml/2006/main">
              <a:ext uri="{FF2B5EF4-FFF2-40B4-BE49-F238E27FC236}">
                <a16:creationId xmlns:a16="http://schemas.microsoft.com/office/drawing/2014/main" id="{E2D6D4A2-1E1F-43DE-8D7B-90803E13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4033164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AB5C698B-72E0-49D5-8D72-483CF4E7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04993A9-C989-47C1-86C8-CD9E4BF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3 - Hangji Liu (z5660625) | COMP9444 Project 077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D1721D-F160-49E0-82D2-DB4B0520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9638724304c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2D602C9-DB64-FF6F-0B06-859C0E4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2" y="223200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was missing in the baseline?</a:t>
            </a:r>
          </a:p>
        </p:txBody>
      </p:sp>
      <p:sp>
        <p:nvSpPr>
          <p:cNvPr id="30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2173016A-28BB-1439-3DA5-F4F4097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" y="3041637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Long schemas</a:t>
            </a:r>
            <a:br/>
            <a:r>
              <a:rPr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Relevant tables or columns may be truncated. If the prompt exceeds the token limit, the model may never see the most useful schema information.</a:t>
            </a:r>
          </a:p>
        </p:txBody>
      </p:sp>
      <p:sp>
        <p:nvSpPr>
          <p:cNvPr id="32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A1289394-E5B2-CEAF-7E7A-DF4F2CC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034" y="30225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Greedy decoding</a:t>
            </a:r>
            <a:br/>
            <a:r>
              <a:rPr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Only one generation path is kept. A locally likely token can lead to a weaker final SQL query.</a:t>
            </a:r>
          </a:p>
        </p:txBody>
      </p:sp>
      <p:sp>
        <p:nvSpPr>
          <p:cNvPr id="34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E8530F23-8F18-8E66-A497-AEA69F24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539" y="30225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T5-small</a:t>
            </a:r>
            <a:br/>
            <a:r>
              <a:rPr sz="180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Limited capacity for complex schema reasoning. It may struggle to connect the question with the correct tables, columns, joins and conditions.</a:t>
            </a:r>
          </a:p>
        </p:txBody>
      </p:sp>
      <p:sp>
        <p:nvSpPr>
          <p:cNvPr id="3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8D45906C-F9E8-BC39-12DF-DC1C2595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607" y="1984881"/>
            <a:ext cx="315563" cy="353854"/>
          </a:xfrm>
          <a:custGeom xmlns:a="http://schemas.openxmlformats.org/drawingml/2006/main">
            <a:rect l="0" t="0" r="0" b="0"/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EA09453A-56A3-641E-D32D-8A5DBCCC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71" y="2032235"/>
            <a:ext cx="327089" cy="362045"/>
          </a:xfrm>
          <a:custGeom xmlns:a="http://schemas.openxmlformats.org/drawingml/2006/main">
            <a:rect l="0" t="0" r="0" b="0"/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5B3A8023-7325-70B0-6D83-7A90AA00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328" y="2077811"/>
            <a:ext cx="338614" cy="270891"/>
          </a:xfrm>
          <a:custGeom xmlns:a="http://schemas.openxmlformats.org/drawingml/2006/main">
            <a:rect l="0" t="0" r="0" b="0"/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429996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9B2151B-2B03-46CD-8C75-E8C0DAA7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C9718B9-FAD1-4C78-B1E5-6D22BE9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3 - Hangji Liu (z5660625) | COMP9444 Project 077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284B8F6-34AB-42F9-BEA6-AE411859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171e35d16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  <p:sp>
        <p:nvSpPr>
          <p:cNvPr id="38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0A737E-1357-A940-1AFA-99694A55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40" y="493015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did I change?</a:t>
            </a:r>
          </a:p>
        </p:txBody>
      </p:sp>
      <p:sp>
        <p:nvSpPr>
          <p:cNvPr id="40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A7D4CAB-5169-D591-B453-38D23E5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35FFA49-1016-7D60-095F-5527B617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2630595-9FFF-306F-288C-D7A9EF1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333ADD9A-ECA2-22DA-A58E-3F4B6C32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4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51D7EE1-D42D-86B8-D373-7A6EC60D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50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E28F1B9-978E-C093-EB92-6BD01CD8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DECODING</a:t>
            </a:r>
          </a:p>
        </p:txBody>
      </p:sp>
      <p:sp>
        <p:nvSpPr>
          <p:cNvPr id="52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A5C2BB1-949B-3820-1D7B-7F31760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FLAN-T5-base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Use a stronger instruction-tuned sequence-to-sequence model to better follow the natural-language-to-SQL task.</a:t>
            </a:r>
          </a:p>
        </p:txBody>
      </p:sp>
      <p:sp>
        <p:nvSpPr>
          <p:cNvPr id="54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D4CF397-F9EB-0526-26B3-88EC03C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Schema-aware input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Rank relevant tables and columns before tokenisation, so useful schema tokens appear earlier in the input.</a:t>
            </a:r>
          </a:p>
        </p:txBody>
      </p:sp>
      <p:sp>
        <p:nvSpPr>
          <p:cNvPr id="56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39E151F8-6929-9F46-1FA4-F2F0AB2E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Beam 8 + reranking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Generate eight candidate paths, then use schema-aware reranking to prefer SQL grounded in the available tables and columns.</a:t>
            </a:r>
          </a:p>
        </p:txBody>
      </p:sp>
    </p:spTree>
    <p:extLst>
      <p:ext uri="{BB962C8B-B14F-4D97-AF65-F5344CB8AC3E}">
        <p14:creationId xmlns:p14="http://schemas.microsoft.com/office/powerpoint/2010/main" val="1011866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B1A75E0-0F37-4EDA-BE1C-4011FC71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E7F1992-2F15-4F5C-A32D-93398D3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3 - Hangji Liu (z5660625) | COMP9444 Project 077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289B0DB4-6E94-460A-B2E5-C0747D66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8de4f7d7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itle-2-3">
            <a:extLst xmlns:a="http://schemas.openxmlformats.org/drawingml/2006/main">
              <a:ext uri="{FF2B5EF4-FFF2-40B4-BE49-F238E27FC236}">
                <a16:creationId xmlns:a16="http://schemas.microsoft.com/office/drawing/2014/main" id="{D02B640A-6A30-5960-3718-D97BA5E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8138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can this approach work?</a:t>
            </a:r>
          </a:p>
        </p:txBody>
      </p:sp>
      <p:sp>
        <p:nvSpPr>
          <p:cNvPr id="25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F4603E5-3814-02E4-670E-14A7723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Preserve relevant context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Important schema tokens appear earlier, reducing truncation risk. Useful schema information is less likely to disappear during </a:t>
            </a: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tokenisation</a:t>
            </a: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27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90E39AA-E808-F645-F798-32F1725F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Follow the instruction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FLAN-T5-base is better suited to natural-language-to-SQL prompting. Its larger capacity also helps with complex relationships.</a:t>
            </a:r>
          </a:p>
        </p:txBody>
      </p:sp>
      <p:sp>
        <p:nvSpPr>
          <p:cNvPr id="32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5F9EB5D-FB20-B8C1-3651-ED8D8551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Explore alternatives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Beam Search keeps several promising SQL generation paths. This reduces the risk of committing too early to one wrong token.</a:t>
            </a:r>
          </a:p>
        </p:txBody>
      </p:sp>
      <p:sp>
        <p:nvSpPr>
          <p:cNvPr id="34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EDF41EB-3894-AB8F-689A-C537D903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Prefer grounded SQL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Reranking favours candidates that reference the provided schema. Unknown tables or columns receive penalties.</a:t>
            </a:r>
          </a:p>
        </p:txBody>
      </p:sp>
    </p:spTree>
    <p:extLst>
      <p:ext uri="{BB962C8B-B14F-4D97-AF65-F5344CB8AC3E}">
        <p14:creationId xmlns:p14="http://schemas.microsoft.com/office/powerpoint/2010/main" val="27935482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6567D8E-E04B-4223-A787-E8262F1F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5925312"/>
            <a:ext cx="9875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Schema rerank: prefer grounded SQL candidates.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5402254-A0AB-48B1-917E-A891A110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6ED913B-9DCE-4698-9B64-B4A936D3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3 - Hangji Liu (z5660625) | COMP9444 Project 077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BFFEF00-D135-4225-A036-B6DBFEB1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85a03a4864d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Title-10-3">
            <a:extLst xmlns:a="http://schemas.openxmlformats.org/drawingml/2006/main">
              <a:ext uri="{FF2B5EF4-FFF2-40B4-BE49-F238E27FC236}">
                <a16:creationId xmlns:a16="http://schemas.microsoft.com/office/drawing/2014/main" id="{64DDBEFC-C355-E861-133B-7B52002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Did the model improve?</a:t>
            </a:r>
          </a:p>
        </p:txBody>
      </p:sp>
      <p:sp>
        <p:nvSpPr>
          <p:cNvPr id="17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7FDE44B-C2F8-48BB-57B6-A2638D4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+63</a:t>
            </a:r>
          </a:p>
        </p:txBody>
      </p:sp>
      <p:sp>
        <p:nvSpPr>
          <p:cNvPr id="19" name="Content-Placeholder-15-5">
            <a:extLst xmlns:a="http://schemas.openxmlformats.org/drawingml/2006/main">
              <a:ext uri="{FF2B5EF4-FFF2-40B4-BE49-F238E27FC236}">
                <a16:creationId xmlns:a16="http://schemas.microsoft.com/office/drawing/2014/main" id="{4E8FC09C-A9A9-D400-3378-7B477C9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 queries</a:t>
            </a:r>
          </a:p>
        </p:txBody>
      </p:sp>
      <p:sp>
        <p:nvSpPr>
          <p:cNvPr id="21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B22E984-B2A4-26C4-94F8-E2BA69B0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4072319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+6.70 pp</a:t>
            </a:r>
          </a:p>
        </p:txBody>
      </p:sp>
      <p:sp>
        <p:nvSpPr>
          <p:cNvPr id="23" name="Content-Placeholder-15-7">
            <a:extLst xmlns:a="http://schemas.openxmlformats.org/drawingml/2006/main">
              <a:ext uri="{FF2B5EF4-FFF2-40B4-BE49-F238E27FC236}">
                <a16:creationId xmlns:a16="http://schemas.microsoft.com/office/drawing/2014/main" id="{30FC4558-F4FD-B82A-38CC-2B2FC25D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vs. baseline</a:t>
            </a:r>
          </a:p>
        </p:txBody>
      </p:sp>
      <p:sp>
        <p:nvSpPr>
          <p:cNvPr id="25" name="Content-Placeholder-1-9">
            <a:extLst xmlns:a="http://schemas.openxmlformats.org/drawingml/2006/main">
              <a:ext uri="{FF2B5EF4-FFF2-40B4-BE49-F238E27FC236}">
                <a16:creationId xmlns:a16="http://schemas.microsoft.com/office/drawing/2014/main" id="{C3FF5543-1BA6-1700-1E54-E79B92AF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614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8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combined method improves strict exact match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103 → 133 → 166 exact matches on the same 940-example test set. Normalised Exact Match is strict: the prediction must match the reference after normalisation.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55ebe90479427c"/>
          </a:graphicData>
        </a:graphic>
      </p:graphicFrame>
    </p:spTree>
    <p:extLst>
      <p:ext uri="{BB962C8B-B14F-4D97-AF65-F5344CB8AC3E}">
        <p14:creationId xmlns:p14="http://schemas.microsoft.com/office/powerpoint/2010/main" val="19114347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C16FB64-35E2-4031-AFC8-8FCF922D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242D5C-EFDA-40BB-94E3-48C4CDC3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3 - Hangji Liu (z5660625) | COMP9444 Project 077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26AB5C9-7DA5-41C8-A07B-8243F4E8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5511be5cb4c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  <p:sp>
        <p:nvSpPr>
          <p:cNvPr id="15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3BDE3E-CD64-B49E-8099-90DAFD02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are the limitations?</a:t>
            </a:r>
          </a:p>
        </p:txBody>
      </p:sp>
      <p:sp>
        <p:nvSpPr>
          <p:cNvPr id="17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5C0AC071-1111-1DDA-599A-6A86DBEE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2BEC995-B970-CB2E-071D-D4F5B83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Exact Match</a:t>
            </a:r>
          </a:p>
        </p:txBody>
      </p:sp>
      <p:sp>
        <p:nvSpPr>
          <p:cNvPr id="21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8080EA1-D65A-EE3E-D0AF-A749A321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Equivalent SQL can still receive different string-level scores. Different aliases or condition order may express the same logic but fail exact match.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382248-DE60-F8C8-9066-F13C2792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CCFDC58-0572-C0EB-9110-252D45C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Validity ≠ correctness</a:t>
            </a:r>
          </a:p>
        </p:txBody>
      </p:sp>
      <p:sp>
        <p:nvSpPr>
          <p:cNvPr id="2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5FC37E0-94AF-4738-E4C2-8AF6FC4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90.32% parses with sqlglot, but valid syntax does not prove correct semantics. A query may parse while using the wrong table, column or condition.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0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6D6080-DE0C-F400-3BAD-1BE2271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improvement is real, but the metrics need careful interpretation.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3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The final gain comes from a combined system.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33333"/>
                </a:solidFill>
                <a:latin typeface="Helvetica Neue"/>
                <a:ea typeface="Helvetica Neue"/>
                <a:cs typeface="Helvetica Neue"/>
              </a:rPr>
              <a:t>A separate ablation study would be needed to isolate each component's contribution.
Therefore, Exact Match and SQL Validity should be interpreted together.</a:t>
            </a:r>
          </a:p>
        </p:txBody>
      </p:sp>
    </p:spTree>
    <p:extLst>
      <p:ext uri="{BB962C8B-B14F-4D97-AF65-F5344CB8AC3E}">
        <p14:creationId xmlns:p14="http://schemas.microsoft.com/office/powerpoint/2010/main" val="8953374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639B43-775F-4B91-B0F6-33FC877F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Training and evaluation framework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F06A7C-3955-4E27-97F9-50B0CF33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676656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training utilities: </a:t>
            </a:r>
            <a:r>
              <a:rPr sz="1280">
                <a:solidFill>
                  <a:srgbClr val="111111"/>
                </a:solidFill>
                <a:latin typeface="Arial"/>
                <a:ea typeface="Arial"/>
                <a:cs typeface="Arial"/>
              </a:rPr>
              <a:t>device-safe batch handling, training and validation loops, optional gradient clipping, early stopping, history tracking and checkpoint support.
</a:t>
            </a:r>
            <a:r>
              <a:rPr sz="12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Checkpointing: </a:t>
            </a:r>
            <a:r>
              <a:rPr sz="1280">
                <a:solidFill>
                  <a:srgbClr val="111111"/>
                </a:solidFill>
                <a:latin typeface="Arial"/>
                <a:ea typeface="Arial"/>
                <a:cs typeface="Arial"/>
              </a:rPr>
              <a:t>atomic best/latest checkpoint writes, CPU-safe loading, optimizer-state migration, and resume continuity.
</a:t>
            </a:r>
            <a:r>
              <a:rPr sz="128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Evaluation: </a:t>
            </a:r>
            <a:r>
              <a:rPr sz="1280">
                <a:solidFill>
                  <a:srgbClr val="111111"/>
                </a:solidFill>
                <a:latin typeface="Arial"/>
                <a:ea typeface="Arial"/>
                <a:cs typeface="Arial"/>
              </a:rPr>
              <a:t>generation under model.eval() and torch.no_grad(), decoded predictions, alignment checks, throughput, normalised exact match, SQL validity and error analysis.</a:t>
            </a:r>
            <a:endParaRPr sz="128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E5EC38A-94DE-489B-B683-29EF1D7A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77640"/>
            <a:ext cx="100126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788715B-E325-4DA8-B370-385C7F20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005072"/>
            <a:ext cx="3312871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 / check</a:t>
            </a:r>
            <a:endParaRPr sz="112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2D10B09-A327-4E0B-98EE-95E60814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119" y="397764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0926A44-165A-4FD6-9ADF-CBB64D4D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839" y="4005072"/>
            <a:ext cx="6516929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Interpretation</a:t>
            </a:r>
            <a:endParaRPr sz="112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4511F-DE4B-4C73-AD70-213DDB2F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97680"/>
            <a:ext cx="100126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728FB45-386C-418E-A3BE-DDBBF6BF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25112"/>
            <a:ext cx="3312871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 exact match</a:t>
            </a:r>
            <a:endParaRPr sz="11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CD8528-A73A-4E44-93EF-3D73A6F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119" y="429768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A544093-74F5-4F7B-B1FE-6382B82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839" y="4325112"/>
            <a:ext cx="6516929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Strict string match before normalisation</a:t>
            </a:r>
            <a:endParaRPr sz="11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DC6D83B-C921-40AC-B9C6-871AD283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17720"/>
            <a:ext cx="100126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07F017-DBE8-4A0A-A478-1D9A8608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645152"/>
            <a:ext cx="3312871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Normalised exact match</a:t>
            </a:r>
            <a:endParaRPr sz="11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87A264E-EF5B-4844-98FA-A464EC28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119" y="46177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FAB8F0D-2B2E-42A0-9BFB-6B71912E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839" y="4645152"/>
            <a:ext cx="6516929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Lowercase, collapse spaces, remove trailing semicolon</a:t>
            </a:r>
            <a:endParaRPr sz="11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B305361-42D6-43BC-904C-FE99D9B5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100126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F0F05C1-9121-4578-AA9C-AB868902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965192"/>
            <a:ext cx="3312871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SQLGlot / SQL validity</a:t>
            </a:r>
            <a:endParaRPr sz="11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97F3453-E041-4D24-9A1B-01554E26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119" y="493776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71E052-ADEC-4D17-A4AB-B13DA6F3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839" y="4965192"/>
            <a:ext cx="6516929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Does the SQL parse; not full semantic correctness</a:t>
            </a:r>
            <a:endParaRPr sz="11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1D05F2E-29A0-4221-B92F-BDF5207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257800"/>
            <a:ext cx="1001268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E594EDB-927B-41B4-8A36-B79EC46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285232"/>
            <a:ext cx="3312871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Heuristic error labels</a:t>
            </a:r>
            <a:endParaRPr sz="11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118507-EE82-4698-A269-BADF5EEA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119" y="525780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ABE71C9-F9A4-468C-8904-8D872423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839" y="5285232"/>
            <a:ext cx="6516929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111111"/>
                </a:solidFill>
                <a:latin typeface="Arial"/>
                <a:ea typeface="Arial"/>
                <a:cs typeface="Arial"/>
              </a:rPr>
              <a:t>wrong table, wrong column, join, aggregation, filter errors</a:t>
            </a:r>
            <a:endParaRPr sz="11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AC9BBE6-4299-4902-981B-D233CE1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CF8465B-83CB-4613-8F1A-FAD3B769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4 - Yihan Zhou (z5676668) | COMP9444 Project 077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8EBA159-A093-42A3-8BD5-975762E1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15</a:t>
            </a:r>
            <a:endParaRPr sz="900"/>
          </a:p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8c121c7ef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14884"/>
      </p:ext>
    </p:extLst>
  </p:cSld>
</p:sld>
</file>

<file path=ppt/slides/slide1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D8BEAF-108B-49A3-AF4B-B6361DE7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 and analysis</a:t>
            </a:r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5142befd4261"/>
          <a:srcRect xmlns:a="http://schemas.openxmlformats.org/drawingml/2006/main" l="4018" t="0" r="4018" b="0"/>
          <a:stretch xmlns:a="http://schemas.openxmlformats.org/drawingml/2006/main"/>
        </p:blipFill>
        <p:spPr>
          <a:xfrm xmlns:a="http://schemas.openxmlformats.org/drawingml/2006/main">
            <a:off x="387706" y="960120"/>
            <a:ext cx="6675120" cy="242316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D30419F-7B92-48CA-A26E-DF6608D8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60120"/>
            <a:ext cx="4389120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finding: </a:t>
            </a:r>
            <a:r>
              <a:rPr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V3 system improves strict exact match on the same 940-example test set, from 10.96% to 17.66%.
</a:t>
            </a: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Validity analysis: </a:t>
            </a:r>
            <a:r>
              <a:rPr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849/940 V3 Beam + Schema predictions parse under </a:t>
            </a:r>
            <a:r>
              <a:rPr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SQLGlot</a:t>
            </a:r>
            <a:r>
              <a:rPr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, giving a 90.32% syntactic validity rate.
</a:t>
            </a:r>
            <a:r>
              <a:rPr sz="1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Important caution: </a:t>
            </a:r>
            <a:r>
              <a:rPr sz="140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match and SQL validity are diagnostic metrics. Valid syntax may still select the wrong table, column, filter or aggregation, and equivalent SQL may still fail exact match.</a:t>
            </a:r>
          </a:p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3FAF395-D474-42A8-B78D-D741EEA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1088136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DB25BC6-8E07-4DB2-A167-1268387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05072"/>
            <a:ext cx="4478731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CA5C11A9-CA79-4498-9CC8-0E2DB91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539" y="397764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F3F1632-8B0F-4869-885F-19CD3880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59" y="400507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Normalised EM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30BB17A1-7650-4AFD-BB21-742FBB9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34" y="397764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80EFC79-F672-4ECE-97F6-2E0ED87D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854" y="400507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SQLGlot validity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3F74703-9EF0-471F-BD6A-275F995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09110"/>
            <a:ext cx="1088136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4A3FDFD-3801-4580-9010-D50F461B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36542"/>
            <a:ext cx="4478731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greedy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09389461-5CF1-4A09-B359-0B6B8CF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539" y="430911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3987ECA-5FA0-44B5-B3B7-1A15628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59" y="433654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103/940 (10.96%)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C37543C8-9CCA-49F7-A453-1B43B84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34" y="430911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D247779-BB94-4CEE-94B7-AA5290E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854" y="433654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829/940 (88.19%)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A432CF6-3AEE-4AA2-ADA9-585D0860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40580"/>
            <a:ext cx="10881360" cy="331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110" b="0" i="0" u="none" cap="none">
                <a:ln>
                  <a:noFill/>
                </a:ln>
                <a:solidFill>
                  <a:srgbClr val="111111"/>
                </a:solidFill>
                <a:latin typeface="Arial"/>
                <a:ea typeface="Arial"/>
                <a:cs typeface="Arial"/>
              </a:rPr>
              <a:t>V3 Beam + schema rerank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89BC6FC-189E-4746-A996-62684B1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668012"/>
            <a:ext cx="4478731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FC7D2536-52B2-418F-8B3D-AC9D1A34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8539" y="464058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EBB6BA05-259E-4F58-A782-3E26B076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4259" y="466801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166/940 (17.66%)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71AFB2E-2A76-40AD-AC82-7AF7AD3F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4134" y="4640580"/>
            <a:ext cx="0" cy="3314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A757D80-8D10-4E26-AADF-72F17E6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854" y="4668012"/>
            <a:ext cx="3064154" cy="2766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10">
                <a:solidFill>
                  <a:srgbClr val="111111"/>
                </a:solidFill>
                <a:latin typeface="Arial"/>
                <a:ea typeface="Arial"/>
                <a:cs typeface="Arial"/>
              </a:rPr>
              <a:t>849/940 (90.32%)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23EE16BF-CBD6-48F5-83C8-393018F1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3B6C9BE-F0C6-4BD9-9352-57859AAE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4 - Yihan Zhou (z5676668) | COMP9444 Project 077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BD117653-1052-4BC7-936B-FFC2BC7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b3277493e45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7938"/>
      </p:ext>
    </p:extLst>
  </p:cSld>
</p:sld>
</file>

<file path=ppt/slides/slide17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DB46E1-1E71-4144-BF84-0E37A557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and reproducibility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F97F50-9CBF-4FD7-BE68-C9E72F79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914400"/>
            <a:ext cx="658368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My contribution: </a:t>
            </a: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I converted the starter main.py into a unified command-line entry point that connects the baseline, improvement, evaluation and test modules without changing their internal implementations.
</a:t>
            </a:r>
            <a:r>
              <a:rPr sz="1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it helps: </a:t>
            </a:r>
            <a:r>
              <a:rPr sz="16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project can be reproduced and demonstrated from one interface, reducing manual execution errors and preserving each member's module independence</a:t>
            </a:r>
            <a:r>
              <a:rPr sz="132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4B64297-903A-4818-AED6-DE25D7D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260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84B2836-09A7-497F-B091-923E2BE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535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B60186-5870-4000-948A-CBAF3C24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29260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607AB7-6C37-4531-BF29-C98080D1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29535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55AF92-ABC0-4669-A1E8-CAB2EFC9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89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49D4AE8-6818-4094-9206-8D209A2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64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-m src.main --help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59A15B-CBB7-479A-8059-7E4DD24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32689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0BC161A-6540-4EC1-8942-18AA208B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32964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Show the unified project menu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ADB114D-46DE-4DBA-8549-A52D818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118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709E2D6-6BD8-4523-8B98-AF6457E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393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-m src.main baseline --help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451EA4E-429F-4F7F-8E13-72881855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36118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D6A81A-6DCD-4D17-BD33-0F8E305C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36393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Forward to Member 2 baseline options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36A9A09-9FFC-478E-8B50-BD3CDBE8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547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854B9FB-CE04-49C1-A42D-2E05C1F5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822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-m src.main improvement --help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57A2ACB-0AF0-4330-8602-7E888E49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39547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6D1BE9-B6F6-4694-B6AB-5232EB3E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39822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Forward to Member 3 improvement options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34EC95D-B8F2-4491-A98B-71420406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2976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775025-CEE0-4DFF-A098-2AA6DF45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251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-m src.main evaluate --help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14C1C12-8D8E-4ACC-B9CB-36D84C05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42976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0A22228-6FB3-415A-B7B7-6097A91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43251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Forward to Member 4 evaluation options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E2F20E-E2BC-4CE8-8699-F328A97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40580"/>
            <a:ext cx="77266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97E379A-3B41-4438-B994-E15D054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8012"/>
            <a:ext cx="2535631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python -m src.main test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EAFDD9F-4E2C-4CAB-921A-70C9923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431" y="464058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8888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BCF5A18-AB40-496D-8FE0-E7DB68E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151" y="4668012"/>
            <a:ext cx="5008169" cy="2880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60">
                <a:solidFill>
                  <a:srgbClr val="111111"/>
                </a:solidFill>
                <a:latin typeface="Arial"/>
                <a:ea typeface="Arial"/>
                <a:cs typeface="Arial"/>
              </a:rPr>
              <a:t>Run the integrated project test suite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CC716FB-36A2-410B-9168-F5C1B4C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005840"/>
            <a:ext cx="192024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file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C19CF7C-A8E8-4DD8-AD6A-227A547F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509674"/>
            <a:ext cx="192024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main.py modified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6A66B3C-16CE-43DC-8C47-CD7AF9A7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423160"/>
            <a:ext cx="192024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E8F68"/>
                </a:solidFill>
                <a:latin typeface="Arial"/>
                <a:ea typeface="Arial"/>
                <a:cs typeface="Arial"/>
              </a:rPr>
              <a:t>170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8A6F9B3-0447-4E69-BD5B-DC86BB1B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926994"/>
            <a:ext cx="192024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D370034-5FA9-4F7E-A95F-7CD8AEF9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40480"/>
            <a:ext cx="192024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22768A6-5D8F-4AEF-9C04-7A637013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4344314"/>
            <a:ext cx="192024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 skipped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BB4979F9-74CB-485A-89D7-C2CA26EB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24FE3EC-7BD3-4878-AB6C-65B9413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5 - Chenghao Ruan (z5617856) | COMP9444 Project 077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CF7F108-E96B-4B05-BF30-226D080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293003fb9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45619"/>
      </p:ext>
    </p:extLst>
  </p:cSld>
</p:sld>
</file>

<file path=ppt/slides/slide18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CC5608-6ED9-468C-8E24-BFCD9C6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7160"/>
            <a:ext cx="11612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111111"/>
                </a:solidFill>
                <a:latin typeface="Arial"/>
                <a:ea typeface="Arial"/>
                <a:cs typeface="Arial"/>
              </a:rPr>
              <a:t>Discussion and conclusion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DBFFF7-57BC-47F7-AD6E-BA1C10E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60120"/>
            <a:ext cx="7315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Strengths: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final workflow is modular, reproducible and testable. The improved method increases strict exact match and SQL validity compared with the baseline.
</a:t>
            </a: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Weaknesses: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schema linking and exact aggregation remain difficult. Strict exact match can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penalise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 semantically equivalent SQL, while SQL validity does not prove semantic correctness.
</a:t>
            </a:r>
            <a:r>
              <a:rPr sz="2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Future work: </a:t>
            </a:r>
            <a:r>
              <a:rPr sz="200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execution accuracy with populated databases, stronger schema linking, ablation studies for each improvement component, and safer constrained SQL decoding</a:t>
            </a:r>
            <a:r>
              <a:rPr sz="1340">
                <a:solidFill>
                  <a:srgbClr val="111111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C84309-B264-42A7-BEFD-458D49B5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005840"/>
            <a:ext cx="18288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10.96%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E4A4F09-CAB4-4C1C-A2ED-C623022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509674"/>
            <a:ext cx="182880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baseline EM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9D6993B-1D1E-42F4-B26F-CE171C3C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286000"/>
            <a:ext cx="18288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0E8F68"/>
                </a:solidFill>
                <a:latin typeface="Arial"/>
                <a:ea typeface="Arial"/>
                <a:cs typeface="Arial"/>
              </a:rPr>
              <a:t>17.66%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D61B32-28D3-40B2-83CF-E059E6B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89834"/>
            <a:ext cx="182880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V3 EM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D56B101-06EE-4A66-95E8-9240FF37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66160"/>
            <a:ext cx="1828800" cy="477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2A66D9"/>
                </a:solidFill>
                <a:latin typeface="Arial"/>
                <a:ea typeface="Arial"/>
                <a:cs typeface="Arial"/>
              </a:rPr>
              <a:t>90.32%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2726DE-166E-44CF-9F74-DA4F0E31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069994"/>
            <a:ext cx="1828800" cy="304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V3 SQL validity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ECF1358-D8E9-4615-8BC5-66BB355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166360"/>
            <a:ext cx="5486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954DFAA-9F62-4BEC-A9E8-A36CE8CA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54496"/>
            <a:ext cx="12191695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12700">
            <a:solidFill>
              <a:srgbClr val="FFD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6D33AE4-048C-4A01-8FB6-EF2A6A5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6492240"/>
            <a:ext cx="7315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Presenter: Member 5 - Chenghao Ruan (z5617856) | COMP9444 Project 077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E05CBCC-2198-41A6-A983-77CFE868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37960"/>
            <a:ext cx="228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A66D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2ab89b8c5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6304" y="6382512"/>
            <a:ext cx="384048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95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2026-08-09T04:42:14.5920000Z</dcterms:created>
  <dcterms:modified xsi:type="dcterms:W3CDTF">2026-08-09T04:42:14.5920000Z</dcterms:modified>
</coreProperties>
</file>